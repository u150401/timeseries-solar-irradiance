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Multi-Horizon Solar</a:t>
            </a:r>
            <a:endParaRPr lang="en-US" sz="3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Irradiance Forecasting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697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&amp; Deep Learning Approaches on the NREL NSRDB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611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  |  Final Project Proposal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Master’s in Data Science  •  Academic Year 2025–2026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4434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Ferran Dalmau Codina  &amp;  Christopher Perry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Solar Irradiance Forecasting?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 electricity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by 2030 target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23444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solar capacity added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each 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23444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±15%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day-ahead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 without ML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06324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 introduce sudden, nonlinear drops in irradiance that deterministic models cannot capture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operators need accurate 1h–24h forecasts for dispatch, energy trading, and storage optimisation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time series problem: strong seasonality + stochastic disruptions + multivariate richness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Dataset: NREL NSRDB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Solar Radiation Database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NREL (developer.nrel.gov)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/ hourly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1998–present, US + international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(requires free key)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Denver, CO (or Madrid, Spain)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2015–2023 (≈157K data points)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566160" cy="34747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57800" y="13258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57800" y="187452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GHI, DNI, DHI (W/m²)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Clearsky GHI &amp; DNI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 (0–10)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Zenith Angle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Wind Speed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 Point, Albedo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 Strategy: The Clearsky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1261872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i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651760" y="1417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1261872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  GHI   /   Clearsky GHI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8404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6040"/>
            <a:ext cx="73152" cy="2148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normalise?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deterministic astronomical component (sunrise/sunset, seasonal tilt)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kₜ ≈ 1 on clear days, kₜ &lt; 0.5 on cloudy days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focus on the hard problem: stochastic cloud effects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38404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606040"/>
            <a:ext cx="73152" cy="2148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Recovering GHI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Clearsky GHI is known in advance (from solar geometry + atmosphere models)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kₜ, then: GHÎ = k̂ₜ × Clearsky GHI</a:t>
            </a:r>
            <a:endParaRPr lang="en-US" sz="125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improve significantly with this normalisation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Methodology: Progressive Model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100584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29844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Clearsky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Climatological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42316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06040" y="118872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188720"/>
            <a:ext cx="1965960" cy="10058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29844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4320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SARIMA(X)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743200" y="274320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ARIMA order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+ exogenous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(cloud, humidity)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754880" y="118872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1188720"/>
            <a:ext cx="1965960" cy="100584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29844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9204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 / GRU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892040" y="274320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2-layer networks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multivariate inputs,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dropout, early stopping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72084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903720" y="118872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903720" y="1188720"/>
            <a:ext cx="1965960" cy="10058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298448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1234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040880" y="22860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040880" y="2743200"/>
            <a:ext cx="1691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nRMSE,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Skill, R²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1h / 6h / 24h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Encoder-Decoder with Attention  |  Hybrid SARIMA + LSTM  |  Prophet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NWP Forecast Data: Open-Meteo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704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day-ahead forecast, we don’t know tomorrow’s actual clouds — but weather models give us predictions. Using NWP forecast data as input simulates a realistic operational scenario.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03120"/>
            <a:ext cx="64008" cy="2651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Open-Meteo API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API key needed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weather forecasts (2021+)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resolution, global coverage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ECMWF IFS, GFS, ICON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open-meteo.com/en/docs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2103120"/>
            <a:ext cx="36576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103120"/>
            <a:ext cx="64008" cy="2651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NWP Forecast Features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0640" y="25603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 (total, low, mid, high)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Shortwave radiation forecast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 forecast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probability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&amp; direction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Comparison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4846320"/>
            <a:ext cx="182880" cy="182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4773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49194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NSRDB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4846320"/>
            <a:ext cx="182880" cy="1828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4773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NWP-augmented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49194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Open-Meteo forecasts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32320" y="4846320"/>
            <a:ext cx="182880" cy="182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47731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info (upper bound)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49194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actual future values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Learning: LSTM &amp; GRU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Window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1645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Clearsky Index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&amp; Clearsky GHI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Type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Angle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Humidity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Wind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2423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169164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691640"/>
            <a:ext cx="1645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28600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Dropout 0.2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2423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691640"/>
            <a:ext cx="164592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units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Dropout 0.2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423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49440" y="1691640"/>
            <a:ext cx="17373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737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19456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kₜ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horizons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1h, 6h, 24h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 / 48h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411480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5176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+ LR Scheduler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411480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40880" y="411480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40880" y="4133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Early Stop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Framework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46120"/>
                <a:gridCol w="3246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absolute error (W/m²)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Intuitive, robust to outliers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mean squared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Penalises large misses (grid-critical)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/ mean(GHI)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cross-location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Skill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RMSE_model / RMSE_persistence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metric in solar forecasting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explained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fit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337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Horizons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3840480"/>
            <a:ext cx="64008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hour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Intra-hour dispatch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ramp detection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0" y="38404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3840480"/>
            <a:ext cx="64008" cy="10515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hours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57600" y="4206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Day-ahead energy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&amp; scheduling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09360" y="384048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3840480"/>
            <a:ext cx="64008" cy="1051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hours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4206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planning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grid operations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228600" cy="228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854964" y="1527048"/>
            <a:ext cx="27432" cy="758952"/>
          </a:xfrm>
          <a:prstGeom prst="rect">
            <a:avLst/>
          </a:prstGeom>
          <a:solidFill>
            <a:srgbClr val="E8DAC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1521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EDA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1097280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1097280"/>
            <a:ext cx="54864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1430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NSRDB via API. Clean, resample to hourly, compute clearsky index. Full EDA: STL decomposition, stationarity tests, ACF/PACF, correlations.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258568"/>
            <a:ext cx="228600" cy="2286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10"/>
          <p:cNvSpPr/>
          <p:nvPr/>
        </p:nvSpPr>
        <p:spPr>
          <a:xfrm>
            <a:off x="854964" y="2487168"/>
            <a:ext cx="27432" cy="758952"/>
          </a:xfrm>
          <a:prstGeom prst="rect">
            <a:avLst/>
          </a:prstGeom>
          <a:solidFill>
            <a:srgbClr val="E8DACC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1122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350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 &amp; SARIMA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34640" y="2057400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205740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21031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baselines (persistence, clearsky persistence, climatological). Fit SARIMA and SARIMAX with auto_arima. Evaluate at all horizons.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218688"/>
            <a:ext cx="228600" cy="228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854964" y="3447288"/>
            <a:ext cx="27432" cy="758952"/>
          </a:xfrm>
          <a:prstGeom prst="rect">
            <a:avLst/>
          </a:prstGeom>
          <a:solidFill>
            <a:srgbClr val="E8DACC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0723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3101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834640" y="3017520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34640" y="3017520"/>
            <a:ext cx="54864" cy="7772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3063240" y="30632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LSTM and GRU models in PyTorch. Hyperparameter tuning. Multi-step forecasting. Training with early stopping on validation.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178808"/>
            <a:ext cx="228600" cy="2286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0325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2702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&amp; Report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834640" y="3977640"/>
            <a:ext cx="58521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834640" y="3977640"/>
            <a:ext cx="54864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Text 28"/>
          <p:cNvSpPr/>
          <p:nvPr/>
        </p:nvSpPr>
        <p:spPr>
          <a:xfrm>
            <a:off x="3063240" y="40233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evaluation: metrics, forecast skill, Diebold-Mariano tests. Clear vs. cloudy stratification. Write report, prepare slides.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 to Find in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25296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0972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diurnal cycle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41732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follows a clear bell-shaped pattern each day: zero at night, rising to a peak at solar noon, and falling back to zero at sunset.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05740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3113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1031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seasonality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08760" y="242316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days are longer and peak irradiance is higher. Winter months show shorter days, lower peaks, and more cloud cover.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06324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36976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1089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Cloud-driven volatility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342900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days will show smooth, predictable curves. Cloudy days will introduce sharp, irregular drops that are the main forecasting challenge.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06908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42816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1148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feature correlations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08760" y="443484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Humidity, dew point, and cloud type should correlate strongly with GHI drops. Temperature and pressure will show weaker but informative relationships.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Multi-Horizon Solar Irradiance Forecasting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703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 •  SARIMAX  •  LSTM  •  GRU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NREL NSRDB  |  Target: Clearsky Index (kₜ)  |  Horizons: 1h, 6h, 24h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Irradiance Forecasting — Project Proposal</dc:title>
  <dc:subject>PptxGenJS Presentation</dc:subject>
  <dc:creator>Time Series Course</dc:creator>
  <cp:lastModifiedBy>Time Series Course</cp:lastModifiedBy>
  <cp:revision>1</cp:revision>
  <dcterms:created xsi:type="dcterms:W3CDTF">2026-03-27T15:05:09Z</dcterms:created>
  <dcterms:modified xsi:type="dcterms:W3CDTF">2026-03-27T15:05:09Z</dcterms:modified>
</cp:coreProperties>
</file>