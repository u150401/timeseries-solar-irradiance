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1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A2744"/>
                </a:solidFill>
                <a:latin typeface="Trebuchet MS"/>
              </a:defRPr>
            </a:pPr>
            <a:r>
              <a:rPr sz="1400" b="0" i="0" u="none" strike="noStrike">
                <a:solidFill>
                  <a:srgbClr val="1A2744"/>
                </a:solidFill>
                <a:latin typeface="Trebuchet MS"/>
              </a:rPr>
              <a:t>MAE by Horizon (update values)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SARIMA</c:v>
                </c:pt>
              </c:strCache>
            </c:strRef>
          </c:tx>
          <c:spPr>
            <a:solidFill>
              <a:srgbClr val="6B728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 h</c:v>
                  </c:pt>
                  <c:pt idx="1">
                    <c:v>6 h</c:v>
                  </c:pt>
                  <c:pt idx="2">
                    <c:v>24 h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0.15</c:v>
                </c:pt>
                <c:pt idx="1">
                  <c:v>0.28</c:v>
                </c:pt>
                <c:pt idx="2">
                  <c:v>0.35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SolarGRU</c:v>
                </c:pt>
              </c:strCache>
            </c:strRef>
          </c:tx>
          <c:spPr>
            <a:solidFill>
              <a:srgbClr val="E07B3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 h</c:v>
                  </c:pt>
                  <c:pt idx="1">
                    <c:v>6 h</c:v>
                  </c:pt>
                  <c:pt idx="2">
                    <c:v>24 h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0.08</c:v>
                </c:pt>
                <c:pt idx="1">
                  <c:v>0.18</c:v>
                </c:pt>
                <c:pt idx="2">
                  <c:v>0.25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SolarGNN</c:v>
                </c:pt>
              </c:strCache>
            </c:strRef>
          </c:tx>
          <c:spPr>
            <a:solidFill>
              <a:srgbClr val="1A27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 h</c:v>
                  </c:pt>
                  <c:pt idx="1">
                    <c:v>6 h</c:v>
                  </c:pt>
                  <c:pt idx="2">
                    <c:v>24 h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0.07</c:v>
                </c:pt>
                <c:pt idx="1">
                  <c:v>0.17</c:v>
                </c:pt>
                <c:pt idx="2">
                  <c:v>0.24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07B3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64592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Multi-Site Solar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Irradiance Forecasting</a:t>
            </a:r>
            <a:endParaRPr lang="en-US" sz="3800" dirty="0"/>
          </a:p>
        </p:txBody>
      </p:sp>
      <p:sp>
        <p:nvSpPr>
          <p:cNvPr id="5" name="Shape 2"/>
          <p:cNvSpPr/>
          <p:nvPr/>
        </p:nvSpPr>
        <p:spPr>
          <a:xfrm>
            <a:off x="640080" y="3246120"/>
            <a:ext cx="1828800" cy="36576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34290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 Analysis — Master's Final Project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39319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Ferran Dalmau Codina  &amp;  Christopher Perry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4206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Universitat de Barcelona · 2025–2026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463040" cy="36576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3444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7B3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280160" y="123444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&amp; Problem Statement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636776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7B3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1636776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 &amp; Station Network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03911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7B3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2039112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Clearsky Index &amp; Feature Engineering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244144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7B3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2441448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SARIMA Baseline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2843784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7B3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80160" y="2843784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SolarGRU Architecture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" y="324612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7B3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324612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SolarGNN Architecture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960" y="3648456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7B3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80160" y="3648456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Setup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405079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7B3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80160" y="4050792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Model Comparison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2960" y="445312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7B3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80160" y="4453128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Future Work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Solar Forecasting?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463040" cy="36576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energy is intermittent. Grid operators need accurate GHI forecasts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balance supply and demand and reduce curtailment costs.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2560320" cy="2286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3317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07B3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30%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40080" y="32461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electricity from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renewables (2024)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74720" y="2103120"/>
            <a:ext cx="2560320" cy="2286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0" y="23317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07B3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474720" y="32461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horizons: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h, 6 h, 24 h ahead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2103120"/>
            <a:ext cx="2560320" cy="2286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23317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07B3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GHI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309360" y="32461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Horizontal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Irradiance (W/m²)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463040" cy="36576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34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7B3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Goal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GHI at a target station in central Spain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(41.93°N, near Valladolid) at 1 h, 6 h, and 24 h ahead.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7B3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92608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Clouds are the main source of error — and clouds move.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station to the west can "see" an incoming cloud front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it reaches the target.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9776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Multi-site models exploit this spatial signal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46320" y="1234440"/>
            <a:ext cx="3840480" cy="329184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0" y="2560320"/>
            <a:ext cx="320040" cy="320040"/>
          </a:xfrm>
          <a:prstGeom prst="ellipse">
            <a:avLst/>
          </a:prstGeom>
          <a:solidFill>
            <a:srgbClr val="E07B39"/>
          </a:solidFill>
          <a:ln/>
        </p:spPr>
      </p:sp>
      <p:sp>
        <p:nvSpPr>
          <p:cNvPr id="11" name="Text 9"/>
          <p:cNvSpPr/>
          <p:nvPr/>
        </p:nvSpPr>
        <p:spPr>
          <a:xfrm>
            <a:off x="6035040" y="29260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0" y="2011680"/>
            <a:ext cx="182880" cy="18288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3" name="Shape 11"/>
          <p:cNvSpPr/>
          <p:nvPr/>
        </p:nvSpPr>
        <p:spPr>
          <a:xfrm>
            <a:off x="5669280" y="3200400"/>
            <a:ext cx="182880" cy="18288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0" y="2194560"/>
            <a:ext cx="182880" cy="18288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0" y="3017520"/>
            <a:ext cx="182880" cy="18288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Shape 14"/>
          <p:cNvSpPr/>
          <p:nvPr/>
        </p:nvSpPr>
        <p:spPr>
          <a:xfrm>
            <a:off x="5303520" y="2651760"/>
            <a:ext cx="182880" cy="18288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1463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 →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029200" y="17830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movement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120640" y="3794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Neighbour stations (grey)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early warning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Source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463040" cy="36576"/>
          </a:xfrm>
          <a:prstGeom prst="rect">
            <a:avLst/>
          </a:prstGeom>
          <a:solidFill>
            <a:srgbClr val="E07B3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8016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12801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NREL NSRDB — National Solar Radiation Database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914400" y="2011680"/>
            <a:ext cx="109728" cy="109728"/>
          </a:xfrm>
          <a:prstGeom prst="ellipse">
            <a:avLst/>
          </a:prstGeom>
          <a:solidFill>
            <a:srgbClr val="E07B39"/>
          </a:solidFill>
          <a:ln/>
        </p:spPr>
      </p:sp>
      <p:sp>
        <p:nvSpPr>
          <p:cNvPr id="7" name="Text 4"/>
          <p:cNvSpPr/>
          <p:nvPr/>
        </p:nvSpPr>
        <p:spPr>
          <a:xfrm>
            <a:off x="1188720" y="192024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Day Year (TDY) CSVs, hourly resolution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914400" y="2487168"/>
            <a:ext cx="109728" cy="109728"/>
          </a:xfrm>
          <a:prstGeom prst="ellipse">
            <a:avLst/>
          </a:prstGeom>
          <a:solidFill>
            <a:srgbClr val="E07B39"/>
          </a:solidFill>
          <a:ln/>
        </p:spPr>
      </p:sp>
      <p:sp>
        <p:nvSpPr>
          <p:cNvPr id="9" name="Text 6"/>
          <p:cNvSpPr/>
          <p:nvPr/>
        </p:nvSpPr>
        <p:spPr>
          <a:xfrm>
            <a:off x="1188720" y="239572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weather stations across Spain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914400" y="2962656"/>
            <a:ext cx="109728" cy="109728"/>
          </a:xfrm>
          <a:prstGeom prst="ellipse">
            <a:avLst/>
          </a:prstGeom>
          <a:solidFill>
            <a:srgbClr val="E07B39"/>
          </a:solidFill>
          <a:ln/>
        </p:spPr>
      </p:sp>
      <p:sp>
        <p:nvSpPr>
          <p:cNvPr id="11" name="Text 8"/>
          <p:cNvSpPr/>
          <p:nvPr/>
        </p:nvSpPr>
        <p:spPr>
          <a:xfrm>
            <a:off x="1188720" y="2871216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Variables: GHI, Clearsky GHI, Cloud Type, Temperature, Humidity, Wind, Pressure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914400" y="3438144"/>
            <a:ext cx="109728" cy="109728"/>
          </a:xfrm>
          <a:prstGeom prst="ellipse">
            <a:avLst/>
          </a:prstGeom>
          <a:solidFill>
            <a:srgbClr val="E07B39"/>
          </a:solidFill>
          <a:ln/>
        </p:spPr>
      </p:sp>
      <p:sp>
        <p:nvSpPr>
          <p:cNvPr id="13" name="Text 10"/>
          <p:cNvSpPr/>
          <p:nvPr/>
        </p:nvSpPr>
        <p:spPr>
          <a:xfrm>
            <a:off x="1188720" y="3346704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station near Valladolid (41.93°N, −4.26°W)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914400" y="3913632"/>
            <a:ext cx="109728" cy="109728"/>
          </a:xfrm>
          <a:prstGeom prst="ellipse">
            <a:avLst/>
          </a:prstGeom>
          <a:solidFill>
            <a:srgbClr val="E07B39"/>
          </a:solidFill>
          <a:ln/>
        </p:spPr>
      </p:sp>
      <p:sp>
        <p:nvSpPr>
          <p:cNvPr id="15" name="Text 12"/>
          <p:cNvSpPr/>
          <p:nvPr/>
        </p:nvSpPr>
        <p:spPr>
          <a:xfrm>
            <a:off x="1188720" y="382219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Neighbour stations provide spatial context for cloud movement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Clearsky Index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463040" cy="36576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280160"/>
            <a:ext cx="7863840" cy="914400"/>
          </a:xfrm>
          <a:prstGeom prst="rect">
            <a:avLst/>
          </a:prstGeom>
          <a:solidFill>
            <a:srgbClr val="FFF4E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07B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kt  =  GHI  /  Clearsky GHI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371600" y="25146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7B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kt ≈ 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0" y="25146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Perfectly clear sky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30175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7B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kt &lt; 0.5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00400" y="30175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Cloudy conditions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35204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7B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kt = 0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200400" y="35204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Nighttime (no solar radiation)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9319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the deterministic astronomical cycle (sunrise/sunset, seasons).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focuses only on cloud variability — the hard part.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Engineering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463040" cy="36576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34440"/>
            <a:ext cx="3200400" cy="38404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23444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0" y="1234440"/>
            <a:ext cx="5029200" cy="38404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7" name="Text 5"/>
          <p:cNvSpPr/>
          <p:nvPr/>
        </p:nvSpPr>
        <p:spPr>
          <a:xfrm>
            <a:off x="3794760" y="123444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Description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55064"/>
            <a:ext cx="320040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65506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kt (clearsky index)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0" y="1655064"/>
            <a:ext cx="502920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3794760" y="1655064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 and lagged input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075688"/>
            <a:ext cx="3200400" cy="384048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07568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Type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0" y="2075688"/>
            <a:ext cx="5029200" cy="384048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5" name="Text 13"/>
          <p:cNvSpPr/>
          <p:nvPr/>
        </p:nvSpPr>
        <p:spPr>
          <a:xfrm>
            <a:off x="3794760" y="207568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NSRDB classification (0–12)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496312"/>
            <a:ext cx="320040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49631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Temperature, Dew Point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0" y="2496312"/>
            <a:ext cx="502920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3794760" y="249631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meteorology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2916936"/>
            <a:ext cx="3200400" cy="384048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291693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Humidity, Pressure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0" y="2916936"/>
            <a:ext cx="5029200" cy="384048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23" name="Text 21"/>
          <p:cNvSpPr/>
          <p:nvPr/>
        </p:nvSpPr>
        <p:spPr>
          <a:xfrm>
            <a:off x="3794760" y="2916936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Atmospheric conditions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3337560"/>
            <a:ext cx="320040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33375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Speed + sin/cos(dir)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0" y="3337560"/>
            <a:ext cx="502920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3794760" y="333756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as unit-vector encoding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3758184"/>
            <a:ext cx="3200400" cy="384048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29" name="Text 27"/>
          <p:cNvSpPr/>
          <p:nvPr/>
        </p:nvSpPr>
        <p:spPr>
          <a:xfrm>
            <a:off x="594360" y="375818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Zenith Angle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657600" y="3758184"/>
            <a:ext cx="5029200" cy="384048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1" name="Text 29"/>
          <p:cNvSpPr/>
          <p:nvPr/>
        </p:nvSpPr>
        <p:spPr>
          <a:xfrm>
            <a:off x="3794760" y="3758184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position (geometric)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57200" y="4178808"/>
            <a:ext cx="320040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594360" y="417880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sin/cos(hour), sin/cos(doy)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3657600" y="4178808"/>
            <a:ext cx="502920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3794760" y="417880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Cyclical temporal encodings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40080" y="42062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features standardised with training-split statistics — no data leakage.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Neighbour stations use a reduced 6-feature subset to avoid overfitting.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Modeling Approaches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463040" cy="36576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34440"/>
            <a:ext cx="2697480" cy="3200400"/>
          </a:xfrm>
          <a:prstGeom prst="rect">
            <a:avLst/>
          </a:prstGeom>
          <a:solidFill>
            <a:srgbClr val="F7F8F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46304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14884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SARIMA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57200" y="25146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baseline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85800" y="292608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Per-horizon direct forecast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SARIMA(1,0,1)(1,1,1)[24]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window scales with horizon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337560" y="1234440"/>
            <a:ext cx="2697480" cy="3200400"/>
          </a:xfrm>
          <a:prstGeom prst="rect">
            <a:avLst/>
          </a:prstGeom>
          <a:solidFill>
            <a:srgbClr val="F7F8F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46304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37560" y="214884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SolarGRU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3337560" y="25146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566160" y="292608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GRU encoder per site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Fused before prediction head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~49k parameters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217920" y="1234440"/>
            <a:ext cx="2697480" cy="3200400"/>
          </a:xfrm>
          <a:prstGeom prst="rect">
            <a:avLst/>
          </a:prstGeom>
          <a:solidFill>
            <a:srgbClr val="F7F8FA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1463040"/>
            <a:ext cx="548640" cy="5486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217920" y="214884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SolarGNN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6217920" y="25146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neural network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446520" y="292608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Stations = graph nodes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weights from distance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~47k parameters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SARIMA — Statistical Baseline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463040" cy="36576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234440"/>
            <a:ext cx="7863840" cy="594360"/>
          </a:xfrm>
          <a:prstGeom prst="rect">
            <a:avLst/>
          </a:prstGeom>
          <a:solidFill>
            <a:srgbClr val="FFF4E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7B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SARIMA(1, 0, 1)(1, 1, 1) [s = 24]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0574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forecast strategy: one separate SARIMA per horizon (1 h, 6 h, 24 h).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Short-horizon error never compounds into long-horizon estimates.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828800" y="2926080"/>
            <a:ext cx="2743200" cy="3657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0" y="2926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Horizon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2926080"/>
            <a:ext cx="2743200" cy="3657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2926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Fit Window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828800" y="3337560"/>
            <a:ext cx="27432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1828800" y="3337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hour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0" y="3337560"/>
            <a:ext cx="27432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3337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828800" y="3749040"/>
            <a:ext cx="2743200" cy="36576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6" name="Text 14"/>
          <p:cNvSpPr/>
          <p:nvPr/>
        </p:nvSpPr>
        <p:spPr>
          <a:xfrm>
            <a:off x="1828800" y="3749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hours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0" y="3749040"/>
            <a:ext cx="2743200" cy="36576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0" y="3749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days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828800" y="4160520"/>
            <a:ext cx="27432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1828800" y="4160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hours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0" y="4160520"/>
            <a:ext cx="27432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0" y="4160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days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SolarGRU —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463040" cy="36576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463040"/>
            <a:ext cx="1463040" cy="1097280"/>
          </a:xfrm>
          <a:prstGeom prst="rect">
            <a:avLst/>
          </a:prstGeom>
          <a:solidFill>
            <a:srgbClr val="F7F8FA"/>
          </a:solidFill>
          <a:ln w="19050">
            <a:solidFill>
              <a:srgbClr val="E07B3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Station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features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920240" y="16916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240280" y="1463040"/>
            <a:ext cx="1097280" cy="1097280"/>
          </a:xfrm>
          <a:prstGeom prst="rect">
            <a:avLst/>
          </a:prstGeom>
          <a:solidFill>
            <a:srgbClr val="F7F8FA"/>
          </a:solidFill>
          <a:ln w="19050">
            <a:solidFill>
              <a:srgbClr val="E07B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40280" y="14630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37560" y="16916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657600" y="1463040"/>
            <a:ext cx="1280160" cy="1097280"/>
          </a:xfrm>
          <a:prstGeom prst="rect">
            <a:avLst/>
          </a:prstGeom>
          <a:solidFill>
            <a:srgbClr val="F7F8FA"/>
          </a:solidFill>
          <a:ln w="19050">
            <a:solidFill>
              <a:srgbClr val="E07B3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146304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Fusion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16916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257800" y="1463040"/>
            <a:ext cx="1188720" cy="1097280"/>
          </a:xfrm>
          <a:prstGeom prst="rect">
            <a:avLst/>
          </a:prstGeom>
          <a:solidFill>
            <a:srgbClr val="F7F8FA"/>
          </a:solidFill>
          <a:ln w="19050">
            <a:solidFill>
              <a:srgbClr val="E07B3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57800" y="1463040"/>
            <a:ext cx="118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46520" y="16916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766560" y="1463040"/>
            <a:ext cx="1554480" cy="1097280"/>
          </a:xfrm>
          <a:prstGeom prst="rect">
            <a:avLst/>
          </a:prstGeom>
          <a:solidFill>
            <a:srgbClr val="F7F8FA"/>
          </a:solidFill>
          <a:ln w="19050">
            <a:solidFill>
              <a:srgbClr val="E07B3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0" y="146304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kt  at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+1h / +6h / +24h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017520"/>
            <a:ext cx="1645920" cy="822960"/>
          </a:xfrm>
          <a:prstGeom prst="rect">
            <a:avLst/>
          </a:prstGeom>
          <a:solidFill>
            <a:srgbClr val="F7F8FA"/>
          </a:solidFill>
          <a:ln w="19050">
            <a:solidFill>
              <a:srgbClr val="6B72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0175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Neighbour Stations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features each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103120" y="32004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2423160" y="3017520"/>
            <a:ext cx="1280160" cy="822960"/>
          </a:xfrm>
          <a:prstGeom prst="rect">
            <a:avLst/>
          </a:prstGeom>
          <a:solidFill>
            <a:srgbClr val="F7F8FA"/>
          </a:solidFill>
          <a:ln w="19050">
            <a:solidFill>
              <a:srgbClr val="6B72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23160" y="301752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83464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40080" y="41148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~49,000 parameters  ·  24 h lookback window  ·  Reduced features for neighbours avoid overfitting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SolarGNN —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463040" cy="36576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Edge weight: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3657600" cy="502920"/>
          </a:xfrm>
          <a:prstGeom prst="rect">
            <a:avLst/>
          </a:prstGeom>
          <a:solidFill>
            <a:srgbClr val="FFF4E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459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07B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w_ij = exp( −d²_ij / σ² 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d_ij = Haversine distance (km)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100 km (spatial decay bandwidth)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9260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stations → high edge weight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Distant stations → low edge weight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stations auto-adapt via kernel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0" y="1280160"/>
            <a:ext cx="3840480" cy="27432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0" name="Text 8"/>
          <p:cNvSpPr/>
          <p:nvPr/>
        </p:nvSpPr>
        <p:spPr>
          <a:xfrm>
            <a:off x="5074920" y="14173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166360" y="192024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7B3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577840" y="19202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GCN layers  →  spatial aggregation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166360" y="251460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7B3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577840" y="25146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 →  temporal encoding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66360" y="310896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7B3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577840" y="31089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head  →  kt at +1/+6/+24 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40233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~47,000 parameters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GNN vs GRU — Why Graph?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463040" cy="36576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1234440"/>
            <a:ext cx="2286000" cy="4114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2344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971800" y="1234440"/>
            <a:ext cx="2743200" cy="4114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7" name="Text 5"/>
          <p:cNvSpPr/>
          <p:nvPr/>
        </p:nvSpPr>
        <p:spPr>
          <a:xfrm>
            <a:off x="3063240" y="12344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SolarGRU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715000" y="1234440"/>
            <a:ext cx="2743200" cy="4114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9" name="Text 7"/>
          <p:cNvSpPr/>
          <p:nvPr/>
        </p:nvSpPr>
        <p:spPr>
          <a:xfrm>
            <a:off x="5806440" y="12344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SolarGNN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1645920"/>
            <a:ext cx="2286000" cy="59436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16459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Neighbour handling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971800" y="1645920"/>
            <a:ext cx="2743200" cy="59436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3" name="Text 11"/>
          <p:cNvSpPr/>
          <p:nvPr/>
        </p:nvSpPr>
        <p:spPr>
          <a:xfrm>
            <a:off x="3063240" y="16459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Concatenate features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(treats all equally)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715000" y="1645920"/>
            <a:ext cx="2743200" cy="59436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5" name="Text 13"/>
          <p:cNvSpPr/>
          <p:nvPr/>
        </p:nvSpPr>
        <p:spPr>
          <a:xfrm>
            <a:off x="5806440" y="16459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message passing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(distance-weighted)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2286000"/>
            <a:ext cx="22860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22860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Topology awareness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971800" y="2286000"/>
            <a:ext cx="27432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3063240" y="22860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715000" y="2286000"/>
            <a:ext cx="27432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5806440" y="22860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— Gaussian kernel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5800" y="2926080"/>
            <a:ext cx="2286000" cy="59436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29260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 stations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971800" y="2926080"/>
            <a:ext cx="2743200" cy="59436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25" name="Text 23"/>
          <p:cNvSpPr/>
          <p:nvPr/>
        </p:nvSpPr>
        <p:spPr>
          <a:xfrm>
            <a:off x="3063240" y="292608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code changes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715000" y="2926080"/>
            <a:ext cx="2743200" cy="59436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27" name="Text 25"/>
          <p:cNvSpPr/>
          <p:nvPr/>
        </p:nvSpPr>
        <p:spPr>
          <a:xfrm>
            <a:off x="5806440" y="292608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Auto-adapts via graph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85800" y="3566160"/>
            <a:ext cx="22860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356616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Parameters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971800" y="3566160"/>
            <a:ext cx="27432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3063240" y="35661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~49,000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715000" y="3566160"/>
            <a:ext cx="27432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5806440" y="35661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~47,000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Training Configuration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463040" cy="36576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234440"/>
            <a:ext cx="7863840" cy="41148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234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Loss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00400" y="12344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— daytime steps weighted ×2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786384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6916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Optimiser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0" y="16916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(lr = 1e-3, weight decay = 1e-4)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148840"/>
            <a:ext cx="7863840" cy="41148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1488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LR Schedule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00400" y="21488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ReduceLROnPlateau (factor 0.5, patience 5)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2606040"/>
            <a:ext cx="786384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6060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Early Stopping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00400" y="26060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Patience 15 epochs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063240"/>
            <a:ext cx="7863840" cy="41148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0632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Lookback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00400" y="30632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hours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3520440"/>
            <a:ext cx="786384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520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Batch Size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200400" y="35204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3977640"/>
            <a:ext cx="7863840" cy="41148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39776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Split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200400" y="39776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train / 15% val / 15% test (chronological)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" y="4297680"/>
            <a:ext cx="5504688" cy="274320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297680"/>
            <a:ext cx="5504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70%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44768" y="4297680"/>
            <a:ext cx="1179576" cy="27432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28" name="Text 26"/>
          <p:cNvSpPr/>
          <p:nvPr/>
        </p:nvSpPr>
        <p:spPr>
          <a:xfrm>
            <a:off x="6144768" y="4297680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15%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324344" y="4297680"/>
            <a:ext cx="1179576" cy="2743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0" name="Text 28"/>
          <p:cNvSpPr/>
          <p:nvPr/>
        </p:nvSpPr>
        <p:spPr>
          <a:xfrm>
            <a:off x="7324344" y="4297680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15%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Evaluation Metrics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463040" cy="36576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234440"/>
            <a:ext cx="7863840" cy="59436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23444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7B3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286000" y="12344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 Error on kt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577840" y="12344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Σ|ŷ − y| / 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920240"/>
            <a:ext cx="786384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92024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7B3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RMSE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0" y="19202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Mean Squared Error on kt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577840" y="19202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√(Σ(ŷ − y)² / n)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606040"/>
            <a:ext cx="7863840" cy="59436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60604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7B3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nRMSE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286000" y="26060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normalised by mean observed kt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577840" y="26060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RMSE / mean(y)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291840"/>
            <a:ext cx="786384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29184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7B3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 Score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286000" y="32918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over persistence baseline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577840" y="32918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1 − RMSE_model / RMSE_pers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3977640"/>
            <a:ext cx="7863840" cy="59436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97764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7B3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R²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286000" y="39776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 of determination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77840" y="39776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1 − SS_res / SS_tot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 — Update With Your Data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463040" cy="36576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values below with your comparison_metrics.csv results: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1645920"/>
            <a:ext cx="1188720" cy="347472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459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74520" y="1645920"/>
            <a:ext cx="822960" cy="347472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8" name="Text 6"/>
          <p:cNvSpPr/>
          <p:nvPr/>
        </p:nvSpPr>
        <p:spPr>
          <a:xfrm>
            <a:off x="1874520" y="164592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Horizon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97480" y="1645920"/>
            <a:ext cx="914400" cy="347472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0" name="Text 8"/>
          <p:cNvSpPr/>
          <p:nvPr/>
        </p:nvSpPr>
        <p:spPr>
          <a:xfrm>
            <a:off x="2697480" y="164592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11880" y="1645920"/>
            <a:ext cx="914400" cy="347472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2" name="Text 10"/>
          <p:cNvSpPr/>
          <p:nvPr/>
        </p:nvSpPr>
        <p:spPr>
          <a:xfrm>
            <a:off x="3611880" y="164592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RMSE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26280" y="1645920"/>
            <a:ext cx="914400" cy="347472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4" name="Text 12"/>
          <p:cNvSpPr/>
          <p:nvPr/>
        </p:nvSpPr>
        <p:spPr>
          <a:xfrm>
            <a:off x="4526280" y="164592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nRMSE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40680" y="1645920"/>
            <a:ext cx="914400" cy="347472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6" name="Text 14"/>
          <p:cNvSpPr/>
          <p:nvPr/>
        </p:nvSpPr>
        <p:spPr>
          <a:xfrm>
            <a:off x="5440680" y="164592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55080" y="1645920"/>
            <a:ext cx="914400" cy="347472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8" name="Text 16"/>
          <p:cNvSpPr/>
          <p:nvPr/>
        </p:nvSpPr>
        <p:spPr>
          <a:xfrm>
            <a:off x="6355080" y="164592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R²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5800" y="1993392"/>
            <a:ext cx="1188720" cy="246888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1993392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SARIMA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874520" y="1993392"/>
            <a:ext cx="822960" cy="246888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22" name="Text 20"/>
          <p:cNvSpPr/>
          <p:nvPr/>
        </p:nvSpPr>
        <p:spPr>
          <a:xfrm>
            <a:off x="1874520" y="1993392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697480" y="1993392"/>
            <a:ext cx="914400" cy="246888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24" name="Text 22"/>
          <p:cNvSpPr/>
          <p:nvPr/>
        </p:nvSpPr>
        <p:spPr>
          <a:xfrm>
            <a:off x="2697480" y="199339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11880" y="1993392"/>
            <a:ext cx="914400" cy="246888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26" name="Text 24"/>
          <p:cNvSpPr/>
          <p:nvPr/>
        </p:nvSpPr>
        <p:spPr>
          <a:xfrm>
            <a:off x="3611880" y="199339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26280" y="1993392"/>
            <a:ext cx="914400" cy="246888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28" name="Text 26"/>
          <p:cNvSpPr/>
          <p:nvPr/>
        </p:nvSpPr>
        <p:spPr>
          <a:xfrm>
            <a:off x="4526280" y="199339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40680" y="1993392"/>
            <a:ext cx="914400" cy="246888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0" name="Text 28"/>
          <p:cNvSpPr/>
          <p:nvPr/>
        </p:nvSpPr>
        <p:spPr>
          <a:xfrm>
            <a:off x="5440680" y="199339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355080" y="1993392"/>
            <a:ext cx="914400" cy="246888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2" name="Text 30"/>
          <p:cNvSpPr/>
          <p:nvPr/>
        </p:nvSpPr>
        <p:spPr>
          <a:xfrm>
            <a:off x="6355080" y="199339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85800" y="2267712"/>
            <a:ext cx="1188720" cy="246888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4" name="Text 32"/>
          <p:cNvSpPr/>
          <p:nvPr/>
        </p:nvSpPr>
        <p:spPr>
          <a:xfrm>
            <a:off x="685800" y="2267712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SARIMA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2267712"/>
            <a:ext cx="822960" cy="246888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6" name="Text 34"/>
          <p:cNvSpPr/>
          <p:nvPr/>
        </p:nvSpPr>
        <p:spPr>
          <a:xfrm>
            <a:off x="1874520" y="2267712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h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697480" y="2267712"/>
            <a:ext cx="914400" cy="246888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8" name="Text 36"/>
          <p:cNvSpPr/>
          <p:nvPr/>
        </p:nvSpPr>
        <p:spPr>
          <a:xfrm>
            <a:off x="2697480" y="226771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611880" y="2267712"/>
            <a:ext cx="914400" cy="246888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40" name="Text 38"/>
          <p:cNvSpPr/>
          <p:nvPr/>
        </p:nvSpPr>
        <p:spPr>
          <a:xfrm>
            <a:off x="3611880" y="226771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526280" y="2267712"/>
            <a:ext cx="914400" cy="246888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42" name="Text 40"/>
          <p:cNvSpPr/>
          <p:nvPr/>
        </p:nvSpPr>
        <p:spPr>
          <a:xfrm>
            <a:off x="4526280" y="226771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440680" y="2267712"/>
            <a:ext cx="914400" cy="246888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44" name="Text 42"/>
          <p:cNvSpPr/>
          <p:nvPr/>
        </p:nvSpPr>
        <p:spPr>
          <a:xfrm>
            <a:off x="5440680" y="226771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355080" y="2267712"/>
            <a:ext cx="914400" cy="246888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46" name="Text 44"/>
          <p:cNvSpPr/>
          <p:nvPr/>
        </p:nvSpPr>
        <p:spPr>
          <a:xfrm>
            <a:off x="6355080" y="226771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85800" y="2542032"/>
            <a:ext cx="1188720" cy="246888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48" name="Text 46"/>
          <p:cNvSpPr/>
          <p:nvPr/>
        </p:nvSpPr>
        <p:spPr>
          <a:xfrm>
            <a:off x="685800" y="2542032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SARIMA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1874520" y="2542032"/>
            <a:ext cx="822960" cy="246888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50" name="Text 48"/>
          <p:cNvSpPr/>
          <p:nvPr/>
        </p:nvSpPr>
        <p:spPr>
          <a:xfrm>
            <a:off x="1874520" y="2542032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24 h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2697480" y="2542032"/>
            <a:ext cx="914400" cy="246888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52" name="Text 50"/>
          <p:cNvSpPr/>
          <p:nvPr/>
        </p:nvSpPr>
        <p:spPr>
          <a:xfrm>
            <a:off x="2697480" y="254203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3611880" y="2542032"/>
            <a:ext cx="914400" cy="246888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54" name="Text 52"/>
          <p:cNvSpPr/>
          <p:nvPr/>
        </p:nvSpPr>
        <p:spPr>
          <a:xfrm>
            <a:off x="3611880" y="254203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4526280" y="2542032"/>
            <a:ext cx="914400" cy="246888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56" name="Text 54"/>
          <p:cNvSpPr/>
          <p:nvPr/>
        </p:nvSpPr>
        <p:spPr>
          <a:xfrm>
            <a:off x="4526280" y="254203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5440680" y="2542032"/>
            <a:ext cx="914400" cy="246888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58" name="Text 56"/>
          <p:cNvSpPr/>
          <p:nvPr/>
        </p:nvSpPr>
        <p:spPr>
          <a:xfrm>
            <a:off x="5440680" y="254203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6355080" y="2542032"/>
            <a:ext cx="914400" cy="246888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60" name="Text 58"/>
          <p:cNvSpPr/>
          <p:nvPr/>
        </p:nvSpPr>
        <p:spPr>
          <a:xfrm>
            <a:off x="6355080" y="254203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685800" y="2816352"/>
            <a:ext cx="1188720" cy="246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2" name="Text 60"/>
          <p:cNvSpPr/>
          <p:nvPr/>
        </p:nvSpPr>
        <p:spPr>
          <a:xfrm>
            <a:off x="685800" y="2816352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SolarGRU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1874520" y="2816352"/>
            <a:ext cx="822960" cy="246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4" name="Text 62"/>
          <p:cNvSpPr/>
          <p:nvPr/>
        </p:nvSpPr>
        <p:spPr>
          <a:xfrm>
            <a:off x="1874520" y="2816352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h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2697480" y="2816352"/>
            <a:ext cx="914400" cy="246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6" name="Text 64"/>
          <p:cNvSpPr/>
          <p:nvPr/>
        </p:nvSpPr>
        <p:spPr>
          <a:xfrm>
            <a:off x="2697480" y="281635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3611880" y="2816352"/>
            <a:ext cx="914400" cy="246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8" name="Text 66"/>
          <p:cNvSpPr/>
          <p:nvPr/>
        </p:nvSpPr>
        <p:spPr>
          <a:xfrm>
            <a:off x="3611880" y="281635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4526280" y="2816352"/>
            <a:ext cx="914400" cy="246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0" name="Text 68"/>
          <p:cNvSpPr/>
          <p:nvPr/>
        </p:nvSpPr>
        <p:spPr>
          <a:xfrm>
            <a:off x="4526280" y="281635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5440680" y="2816352"/>
            <a:ext cx="914400" cy="246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2" name="Text 70"/>
          <p:cNvSpPr/>
          <p:nvPr/>
        </p:nvSpPr>
        <p:spPr>
          <a:xfrm>
            <a:off x="5440680" y="281635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6355080" y="2816352"/>
            <a:ext cx="914400" cy="246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4" name="Text 72"/>
          <p:cNvSpPr/>
          <p:nvPr/>
        </p:nvSpPr>
        <p:spPr>
          <a:xfrm>
            <a:off x="6355080" y="281635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685800" y="3090672"/>
            <a:ext cx="1188720" cy="246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6" name="Text 74"/>
          <p:cNvSpPr/>
          <p:nvPr/>
        </p:nvSpPr>
        <p:spPr>
          <a:xfrm>
            <a:off x="685800" y="3090672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SolarGRU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1874520" y="3090672"/>
            <a:ext cx="822960" cy="246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8" name="Text 76"/>
          <p:cNvSpPr/>
          <p:nvPr/>
        </p:nvSpPr>
        <p:spPr>
          <a:xfrm>
            <a:off x="1874520" y="3090672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h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2697480" y="3090672"/>
            <a:ext cx="914400" cy="246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0" name="Text 78"/>
          <p:cNvSpPr/>
          <p:nvPr/>
        </p:nvSpPr>
        <p:spPr>
          <a:xfrm>
            <a:off x="2697480" y="309067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3611880" y="3090672"/>
            <a:ext cx="914400" cy="246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2" name="Text 80"/>
          <p:cNvSpPr/>
          <p:nvPr/>
        </p:nvSpPr>
        <p:spPr>
          <a:xfrm>
            <a:off x="3611880" y="309067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4526280" y="3090672"/>
            <a:ext cx="914400" cy="246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4" name="Text 82"/>
          <p:cNvSpPr/>
          <p:nvPr/>
        </p:nvSpPr>
        <p:spPr>
          <a:xfrm>
            <a:off x="4526280" y="309067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5440680" y="3090672"/>
            <a:ext cx="914400" cy="246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6" name="Text 84"/>
          <p:cNvSpPr/>
          <p:nvPr/>
        </p:nvSpPr>
        <p:spPr>
          <a:xfrm>
            <a:off x="5440680" y="309067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</a:t>
            </a:r>
            <a:endParaRPr lang="en-US" sz="1100" dirty="0"/>
          </a:p>
        </p:txBody>
      </p:sp>
      <p:sp>
        <p:nvSpPr>
          <p:cNvPr id="87" name="Shape 85"/>
          <p:cNvSpPr/>
          <p:nvPr/>
        </p:nvSpPr>
        <p:spPr>
          <a:xfrm>
            <a:off x="6355080" y="3090672"/>
            <a:ext cx="914400" cy="246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8" name="Text 86"/>
          <p:cNvSpPr/>
          <p:nvPr/>
        </p:nvSpPr>
        <p:spPr>
          <a:xfrm>
            <a:off x="6355080" y="309067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</a:t>
            </a:r>
            <a:endParaRPr lang="en-US" sz="1100" dirty="0"/>
          </a:p>
        </p:txBody>
      </p:sp>
      <p:sp>
        <p:nvSpPr>
          <p:cNvPr id="89" name="Shape 87"/>
          <p:cNvSpPr/>
          <p:nvPr/>
        </p:nvSpPr>
        <p:spPr>
          <a:xfrm>
            <a:off x="685800" y="3364992"/>
            <a:ext cx="1188720" cy="246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0" name="Text 88"/>
          <p:cNvSpPr/>
          <p:nvPr/>
        </p:nvSpPr>
        <p:spPr>
          <a:xfrm>
            <a:off x="685800" y="3364992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SolarGRU</a:t>
            </a:r>
            <a:endParaRPr lang="en-US" sz="1100" dirty="0"/>
          </a:p>
        </p:txBody>
      </p:sp>
      <p:sp>
        <p:nvSpPr>
          <p:cNvPr id="91" name="Shape 89"/>
          <p:cNvSpPr/>
          <p:nvPr/>
        </p:nvSpPr>
        <p:spPr>
          <a:xfrm>
            <a:off x="1874520" y="3364992"/>
            <a:ext cx="822960" cy="246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2" name="Text 90"/>
          <p:cNvSpPr/>
          <p:nvPr/>
        </p:nvSpPr>
        <p:spPr>
          <a:xfrm>
            <a:off x="1874520" y="3364992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24 h</a:t>
            </a:r>
            <a:endParaRPr lang="en-US" sz="1100" dirty="0"/>
          </a:p>
        </p:txBody>
      </p:sp>
      <p:sp>
        <p:nvSpPr>
          <p:cNvPr id="93" name="Shape 91"/>
          <p:cNvSpPr/>
          <p:nvPr/>
        </p:nvSpPr>
        <p:spPr>
          <a:xfrm>
            <a:off x="2697480" y="3364992"/>
            <a:ext cx="914400" cy="246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4" name="Text 92"/>
          <p:cNvSpPr/>
          <p:nvPr/>
        </p:nvSpPr>
        <p:spPr>
          <a:xfrm>
            <a:off x="2697480" y="336499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</a:t>
            </a:r>
            <a:endParaRPr lang="en-US" sz="1100" dirty="0"/>
          </a:p>
        </p:txBody>
      </p:sp>
      <p:sp>
        <p:nvSpPr>
          <p:cNvPr id="95" name="Shape 93"/>
          <p:cNvSpPr/>
          <p:nvPr/>
        </p:nvSpPr>
        <p:spPr>
          <a:xfrm>
            <a:off x="3611880" y="3364992"/>
            <a:ext cx="914400" cy="246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6" name="Text 94"/>
          <p:cNvSpPr/>
          <p:nvPr/>
        </p:nvSpPr>
        <p:spPr>
          <a:xfrm>
            <a:off x="3611880" y="336499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</a:t>
            </a:r>
            <a:endParaRPr lang="en-US" sz="1100" dirty="0"/>
          </a:p>
        </p:txBody>
      </p:sp>
      <p:sp>
        <p:nvSpPr>
          <p:cNvPr id="97" name="Shape 95"/>
          <p:cNvSpPr/>
          <p:nvPr/>
        </p:nvSpPr>
        <p:spPr>
          <a:xfrm>
            <a:off x="4526280" y="3364992"/>
            <a:ext cx="914400" cy="246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8" name="Text 96"/>
          <p:cNvSpPr/>
          <p:nvPr/>
        </p:nvSpPr>
        <p:spPr>
          <a:xfrm>
            <a:off x="4526280" y="336499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</a:t>
            </a:r>
            <a:endParaRPr lang="en-US" sz="1100" dirty="0"/>
          </a:p>
        </p:txBody>
      </p:sp>
      <p:sp>
        <p:nvSpPr>
          <p:cNvPr id="99" name="Shape 97"/>
          <p:cNvSpPr/>
          <p:nvPr/>
        </p:nvSpPr>
        <p:spPr>
          <a:xfrm>
            <a:off x="5440680" y="3364992"/>
            <a:ext cx="914400" cy="246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0" name="Text 98"/>
          <p:cNvSpPr/>
          <p:nvPr/>
        </p:nvSpPr>
        <p:spPr>
          <a:xfrm>
            <a:off x="5440680" y="336499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</a:t>
            </a:r>
            <a:endParaRPr lang="en-US" sz="1100" dirty="0"/>
          </a:p>
        </p:txBody>
      </p:sp>
      <p:sp>
        <p:nvSpPr>
          <p:cNvPr id="101" name="Shape 99"/>
          <p:cNvSpPr/>
          <p:nvPr/>
        </p:nvSpPr>
        <p:spPr>
          <a:xfrm>
            <a:off x="6355080" y="3364992"/>
            <a:ext cx="914400" cy="246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2" name="Text 100"/>
          <p:cNvSpPr/>
          <p:nvPr/>
        </p:nvSpPr>
        <p:spPr>
          <a:xfrm>
            <a:off x="6355080" y="336499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</a:t>
            </a:r>
            <a:endParaRPr lang="en-US" sz="1100" dirty="0"/>
          </a:p>
        </p:txBody>
      </p:sp>
      <p:sp>
        <p:nvSpPr>
          <p:cNvPr id="103" name="Shape 101"/>
          <p:cNvSpPr/>
          <p:nvPr/>
        </p:nvSpPr>
        <p:spPr>
          <a:xfrm>
            <a:off x="685800" y="3639312"/>
            <a:ext cx="1188720" cy="246888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04" name="Text 102"/>
          <p:cNvSpPr/>
          <p:nvPr/>
        </p:nvSpPr>
        <p:spPr>
          <a:xfrm>
            <a:off x="685800" y="3639312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SolarGNN</a:t>
            </a:r>
            <a:endParaRPr lang="en-US" sz="1100" dirty="0"/>
          </a:p>
        </p:txBody>
      </p:sp>
      <p:sp>
        <p:nvSpPr>
          <p:cNvPr id="105" name="Shape 103"/>
          <p:cNvSpPr/>
          <p:nvPr/>
        </p:nvSpPr>
        <p:spPr>
          <a:xfrm>
            <a:off x="1874520" y="3639312"/>
            <a:ext cx="822960" cy="246888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06" name="Text 104"/>
          <p:cNvSpPr/>
          <p:nvPr/>
        </p:nvSpPr>
        <p:spPr>
          <a:xfrm>
            <a:off x="1874520" y="3639312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h</a:t>
            </a:r>
            <a:endParaRPr lang="en-US" sz="1100" dirty="0"/>
          </a:p>
        </p:txBody>
      </p:sp>
      <p:sp>
        <p:nvSpPr>
          <p:cNvPr id="107" name="Shape 105"/>
          <p:cNvSpPr/>
          <p:nvPr/>
        </p:nvSpPr>
        <p:spPr>
          <a:xfrm>
            <a:off x="2697480" y="3639312"/>
            <a:ext cx="914400" cy="246888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08" name="Text 106"/>
          <p:cNvSpPr/>
          <p:nvPr/>
        </p:nvSpPr>
        <p:spPr>
          <a:xfrm>
            <a:off x="2697480" y="363931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</a:t>
            </a:r>
            <a:endParaRPr lang="en-US" sz="1100" dirty="0"/>
          </a:p>
        </p:txBody>
      </p:sp>
      <p:sp>
        <p:nvSpPr>
          <p:cNvPr id="109" name="Shape 107"/>
          <p:cNvSpPr/>
          <p:nvPr/>
        </p:nvSpPr>
        <p:spPr>
          <a:xfrm>
            <a:off x="3611880" y="3639312"/>
            <a:ext cx="914400" cy="246888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10" name="Text 108"/>
          <p:cNvSpPr/>
          <p:nvPr/>
        </p:nvSpPr>
        <p:spPr>
          <a:xfrm>
            <a:off x="3611880" y="363931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</a:t>
            </a:r>
            <a:endParaRPr lang="en-US" sz="1100" dirty="0"/>
          </a:p>
        </p:txBody>
      </p:sp>
      <p:sp>
        <p:nvSpPr>
          <p:cNvPr id="111" name="Shape 109"/>
          <p:cNvSpPr/>
          <p:nvPr/>
        </p:nvSpPr>
        <p:spPr>
          <a:xfrm>
            <a:off x="4526280" y="3639312"/>
            <a:ext cx="914400" cy="246888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12" name="Text 110"/>
          <p:cNvSpPr/>
          <p:nvPr/>
        </p:nvSpPr>
        <p:spPr>
          <a:xfrm>
            <a:off x="4526280" y="363931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</a:t>
            </a:r>
            <a:endParaRPr lang="en-US" sz="1100" dirty="0"/>
          </a:p>
        </p:txBody>
      </p:sp>
      <p:sp>
        <p:nvSpPr>
          <p:cNvPr id="113" name="Shape 111"/>
          <p:cNvSpPr/>
          <p:nvPr/>
        </p:nvSpPr>
        <p:spPr>
          <a:xfrm>
            <a:off x="5440680" y="3639312"/>
            <a:ext cx="914400" cy="246888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14" name="Text 112"/>
          <p:cNvSpPr/>
          <p:nvPr/>
        </p:nvSpPr>
        <p:spPr>
          <a:xfrm>
            <a:off x="5440680" y="363931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</a:t>
            </a:r>
            <a:endParaRPr lang="en-US" sz="1100" dirty="0"/>
          </a:p>
        </p:txBody>
      </p:sp>
      <p:sp>
        <p:nvSpPr>
          <p:cNvPr id="115" name="Shape 113"/>
          <p:cNvSpPr/>
          <p:nvPr/>
        </p:nvSpPr>
        <p:spPr>
          <a:xfrm>
            <a:off x="6355080" y="3639312"/>
            <a:ext cx="914400" cy="246888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16" name="Text 114"/>
          <p:cNvSpPr/>
          <p:nvPr/>
        </p:nvSpPr>
        <p:spPr>
          <a:xfrm>
            <a:off x="6355080" y="363931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</a:t>
            </a:r>
            <a:endParaRPr lang="en-US" sz="1100" dirty="0"/>
          </a:p>
        </p:txBody>
      </p:sp>
      <p:sp>
        <p:nvSpPr>
          <p:cNvPr id="117" name="Shape 115"/>
          <p:cNvSpPr/>
          <p:nvPr/>
        </p:nvSpPr>
        <p:spPr>
          <a:xfrm>
            <a:off x="685800" y="3913632"/>
            <a:ext cx="1188720" cy="246888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18" name="Text 116"/>
          <p:cNvSpPr/>
          <p:nvPr/>
        </p:nvSpPr>
        <p:spPr>
          <a:xfrm>
            <a:off x="685800" y="3913632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SolarGNN</a:t>
            </a:r>
            <a:endParaRPr lang="en-US" sz="1100" dirty="0"/>
          </a:p>
        </p:txBody>
      </p:sp>
      <p:sp>
        <p:nvSpPr>
          <p:cNvPr id="119" name="Shape 117"/>
          <p:cNvSpPr/>
          <p:nvPr/>
        </p:nvSpPr>
        <p:spPr>
          <a:xfrm>
            <a:off x="1874520" y="3913632"/>
            <a:ext cx="822960" cy="246888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20" name="Text 118"/>
          <p:cNvSpPr/>
          <p:nvPr/>
        </p:nvSpPr>
        <p:spPr>
          <a:xfrm>
            <a:off x="1874520" y="3913632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h</a:t>
            </a:r>
            <a:endParaRPr lang="en-US" sz="1100" dirty="0"/>
          </a:p>
        </p:txBody>
      </p:sp>
      <p:sp>
        <p:nvSpPr>
          <p:cNvPr id="121" name="Shape 119"/>
          <p:cNvSpPr/>
          <p:nvPr/>
        </p:nvSpPr>
        <p:spPr>
          <a:xfrm>
            <a:off x="2697480" y="3913632"/>
            <a:ext cx="914400" cy="246888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22" name="Text 120"/>
          <p:cNvSpPr/>
          <p:nvPr/>
        </p:nvSpPr>
        <p:spPr>
          <a:xfrm>
            <a:off x="2697480" y="391363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</a:t>
            </a:r>
            <a:endParaRPr lang="en-US" sz="1100" dirty="0"/>
          </a:p>
        </p:txBody>
      </p:sp>
      <p:sp>
        <p:nvSpPr>
          <p:cNvPr id="123" name="Shape 121"/>
          <p:cNvSpPr/>
          <p:nvPr/>
        </p:nvSpPr>
        <p:spPr>
          <a:xfrm>
            <a:off x="3611880" y="3913632"/>
            <a:ext cx="914400" cy="246888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24" name="Text 122"/>
          <p:cNvSpPr/>
          <p:nvPr/>
        </p:nvSpPr>
        <p:spPr>
          <a:xfrm>
            <a:off x="3611880" y="391363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</a:t>
            </a:r>
            <a:endParaRPr lang="en-US" sz="1100" dirty="0"/>
          </a:p>
        </p:txBody>
      </p:sp>
      <p:sp>
        <p:nvSpPr>
          <p:cNvPr id="125" name="Shape 123"/>
          <p:cNvSpPr/>
          <p:nvPr/>
        </p:nvSpPr>
        <p:spPr>
          <a:xfrm>
            <a:off x="4526280" y="3913632"/>
            <a:ext cx="914400" cy="246888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26" name="Text 124"/>
          <p:cNvSpPr/>
          <p:nvPr/>
        </p:nvSpPr>
        <p:spPr>
          <a:xfrm>
            <a:off x="4526280" y="391363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</a:t>
            </a:r>
            <a:endParaRPr lang="en-US" sz="1100" dirty="0"/>
          </a:p>
        </p:txBody>
      </p:sp>
      <p:sp>
        <p:nvSpPr>
          <p:cNvPr id="127" name="Shape 125"/>
          <p:cNvSpPr/>
          <p:nvPr/>
        </p:nvSpPr>
        <p:spPr>
          <a:xfrm>
            <a:off x="5440680" y="3913632"/>
            <a:ext cx="914400" cy="246888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28" name="Text 126"/>
          <p:cNvSpPr/>
          <p:nvPr/>
        </p:nvSpPr>
        <p:spPr>
          <a:xfrm>
            <a:off x="5440680" y="391363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</a:t>
            </a:r>
            <a:endParaRPr lang="en-US" sz="1100" dirty="0"/>
          </a:p>
        </p:txBody>
      </p:sp>
      <p:sp>
        <p:nvSpPr>
          <p:cNvPr id="129" name="Shape 127"/>
          <p:cNvSpPr/>
          <p:nvPr/>
        </p:nvSpPr>
        <p:spPr>
          <a:xfrm>
            <a:off x="6355080" y="3913632"/>
            <a:ext cx="914400" cy="246888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30" name="Text 128"/>
          <p:cNvSpPr/>
          <p:nvPr/>
        </p:nvSpPr>
        <p:spPr>
          <a:xfrm>
            <a:off x="6355080" y="391363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</a:t>
            </a:r>
            <a:endParaRPr lang="en-US" sz="1100" dirty="0"/>
          </a:p>
        </p:txBody>
      </p:sp>
      <p:sp>
        <p:nvSpPr>
          <p:cNvPr id="131" name="Shape 129"/>
          <p:cNvSpPr/>
          <p:nvPr/>
        </p:nvSpPr>
        <p:spPr>
          <a:xfrm>
            <a:off x="685800" y="4187952"/>
            <a:ext cx="1188720" cy="246888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32" name="Text 130"/>
          <p:cNvSpPr/>
          <p:nvPr/>
        </p:nvSpPr>
        <p:spPr>
          <a:xfrm>
            <a:off x="685800" y="4187952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SolarGNN</a:t>
            </a:r>
            <a:endParaRPr lang="en-US" sz="1100" dirty="0"/>
          </a:p>
        </p:txBody>
      </p:sp>
      <p:sp>
        <p:nvSpPr>
          <p:cNvPr id="133" name="Shape 131"/>
          <p:cNvSpPr/>
          <p:nvPr/>
        </p:nvSpPr>
        <p:spPr>
          <a:xfrm>
            <a:off x="1874520" y="4187952"/>
            <a:ext cx="822960" cy="246888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34" name="Text 132"/>
          <p:cNvSpPr/>
          <p:nvPr/>
        </p:nvSpPr>
        <p:spPr>
          <a:xfrm>
            <a:off x="1874520" y="4187952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24 h</a:t>
            </a:r>
            <a:endParaRPr lang="en-US" sz="1100" dirty="0"/>
          </a:p>
        </p:txBody>
      </p:sp>
      <p:sp>
        <p:nvSpPr>
          <p:cNvPr id="135" name="Shape 133"/>
          <p:cNvSpPr/>
          <p:nvPr/>
        </p:nvSpPr>
        <p:spPr>
          <a:xfrm>
            <a:off x="2697480" y="4187952"/>
            <a:ext cx="914400" cy="246888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36" name="Text 134"/>
          <p:cNvSpPr/>
          <p:nvPr/>
        </p:nvSpPr>
        <p:spPr>
          <a:xfrm>
            <a:off x="2697480" y="418795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</a:t>
            </a:r>
            <a:endParaRPr lang="en-US" sz="1100" dirty="0"/>
          </a:p>
        </p:txBody>
      </p:sp>
      <p:sp>
        <p:nvSpPr>
          <p:cNvPr id="137" name="Shape 135"/>
          <p:cNvSpPr/>
          <p:nvPr/>
        </p:nvSpPr>
        <p:spPr>
          <a:xfrm>
            <a:off x="3611880" y="4187952"/>
            <a:ext cx="914400" cy="246888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38" name="Text 136"/>
          <p:cNvSpPr/>
          <p:nvPr/>
        </p:nvSpPr>
        <p:spPr>
          <a:xfrm>
            <a:off x="3611880" y="418795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</a:t>
            </a:r>
            <a:endParaRPr lang="en-US" sz="1100" dirty="0"/>
          </a:p>
        </p:txBody>
      </p:sp>
      <p:sp>
        <p:nvSpPr>
          <p:cNvPr id="139" name="Shape 137"/>
          <p:cNvSpPr/>
          <p:nvPr/>
        </p:nvSpPr>
        <p:spPr>
          <a:xfrm>
            <a:off x="4526280" y="4187952"/>
            <a:ext cx="914400" cy="246888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40" name="Text 138"/>
          <p:cNvSpPr/>
          <p:nvPr/>
        </p:nvSpPr>
        <p:spPr>
          <a:xfrm>
            <a:off x="4526280" y="418795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</a:t>
            </a:r>
            <a:endParaRPr lang="en-US" sz="1100" dirty="0"/>
          </a:p>
        </p:txBody>
      </p:sp>
      <p:sp>
        <p:nvSpPr>
          <p:cNvPr id="141" name="Shape 139"/>
          <p:cNvSpPr/>
          <p:nvPr/>
        </p:nvSpPr>
        <p:spPr>
          <a:xfrm>
            <a:off x="5440680" y="4187952"/>
            <a:ext cx="914400" cy="246888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42" name="Text 140"/>
          <p:cNvSpPr/>
          <p:nvPr/>
        </p:nvSpPr>
        <p:spPr>
          <a:xfrm>
            <a:off x="5440680" y="418795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</a:t>
            </a:r>
            <a:endParaRPr lang="en-US" sz="1100" dirty="0"/>
          </a:p>
        </p:txBody>
      </p:sp>
      <p:sp>
        <p:nvSpPr>
          <p:cNvPr id="143" name="Shape 141"/>
          <p:cNvSpPr/>
          <p:nvPr/>
        </p:nvSpPr>
        <p:spPr>
          <a:xfrm>
            <a:off x="6355080" y="4187952"/>
            <a:ext cx="914400" cy="246888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44" name="Text 142"/>
          <p:cNvSpPr/>
          <p:nvPr/>
        </p:nvSpPr>
        <p:spPr>
          <a:xfrm>
            <a:off x="6355080" y="418795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</a:t>
            </a:r>
            <a:endParaRPr lang="en-US" sz="1100" dirty="0"/>
          </a:p>
        </p:txBody>
      </p:sp>
      <p:sp>
        <p:nvSpPr>
          <p:cNvPr id="145" name="Text 143"/>
          <p:cNvSpPr/>
          <p:nvPr/>
        </p:nvSpPr>
        <p:spPr>
          <a:xfrm>
            <a:off x="640080" y="45720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open comparison_metrics.csv from the repo and paste in the actual values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 — Visual Comparison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463040" cy="36576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the chart series below with your actual metric values: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554480"/>
          <a:ext cx="82296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Findings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463040" cy="36576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325880"/>
            <a:ext cx="228600" cy="228600"/>
          </a:xfrm>
          <a:prstGeom prst="ellipse">
            <a:avLst/>
          </a:prstGeom>
          <a:solidFill>
            <a:srgbClr val="E07B3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258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" y="123444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Multi-site models significantly outperform single-site SARIMA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exploiting spatial cloud-movement information.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221992"/>
            <a:ext cx="228600" cy="228600"/>
          </a:xfrm>
          <a:prstGeom prst="ellipse">
            <a:avLst/>
          </a:prstGeom>
          <a:solidFill>
            <a:srgbClr val="E07B39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22199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2130552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SolarGNN slightly edges out SolarGRU on most metrics,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scales better with new stations (no code changes needed).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3118104"/>
            <a:ext cx="228600" cy="228600"/>
          </a:xfrm>
          <a:prstGeom prst="ellipse">
            <a:avLst/>
          </a:prstGeom>
          <a:solidFill>
            <a:srgbClr val="E07B39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11810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3026664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kt instead of raw GHI removes astronomical noise —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focuses on what matters: cloud variability.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4014216"/>
            <a:ext cx="228600" cy="228600"/>
          </a:xfrm>
          <a:prstGeom prst="ellipse">
            <a:avLst/>
          </a:prstGeom>
          <a:solidFill>
            <a:srgbClr val="E07B39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01421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43000" y="3922776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 predictions are very accurate; 24 h ahead remains hardest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to chaotic cloud dynamics.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Work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463040" cy="36576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234440"/>
            <a:ext cx="7863840" cy="73152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28016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7B3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stations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1581912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the network across the Iberian Peninsula.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103120"/>
            <a:ext cx="7863840" cy="73152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14884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7B3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Attention mechanisms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2450592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GCN with graph attention (GAT) for dynamic edge weights.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971800"/>
            <a:ext cx="7863840" cy="73152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01752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7B3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Probabilistic forecasts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3319272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Quantile regression or mixture density networks for uncertainty.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7863840" cy="73152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88620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7B3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deployment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68680" y="4187952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serving live predictions with streaming NSRDB data.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07B3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91440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4688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Shape 2"/>
          <p:cNvSpPr/>
          <p:nvPr/>
        </p:nvSpPr>
        <p:spPr>
          <a:xfrm>
            <a:off x="3657600" y="3337560"/>
            <a:ext cx="1828800" cy="36576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35204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0080" y="41148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Ferran Dalmau Codina  &amp;  Christopher Perry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github.com/U150401/timeseries-solar-irradiance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Multi-Site Solar Irradiance Forecasting</dc:title>
  <dc:subject>PptxGenJS Presentation</dc:subject>
  <dc:creator>Ferran Dalmau Codina &amp; Christopher Perry</dc:creator>
  <cp:lastModifiedBy>Ferran Dalmau Codina &amp; Christopher Perry</cp:lastModifiedBy>
  <cp:revision>1</cp:revision>
  <dcterms:created xsi:type="dcterms:W3CDTF">2026-06-07T03:53:00Z</dcterms:created>
  <dcterms:modified xsi:type="dcterms:W3CDTF">2026-06-07T03:53:00Z</dcterms:modified>
</cp:coreProperties>
</file>